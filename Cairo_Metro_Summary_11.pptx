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862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502920"/>
            <a:ext cx="365760" cy="365760"/>
          </a:xfrm>
          <a:prstGeom prst="ellipse">
            <a:avLst/>
          </a:prstGeom>
          <a:solidFill>
            <a:srgbClr val="005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502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74520" y="1051560"/>
            <a:ext cx="274320" cy="274320"/>
          </a:xfrm>
          <a:prstGeom prst="ellipse">
            <a:avLst/>
          </a:prstGeom>
          <a:solidFill>
            <a:srgbClr val="0084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74520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CAIRO METRO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Project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Program — Data Analysis Track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760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Excel  •  Power BI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F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 ·  Anas  ·  Youssef  ·  Zainab  ·  Basmala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year of Cairo Metro data, analyzed across three tools.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The goal
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Understand how Cairo's Metro is really used — ridership, revenue, delays, and geography — using the full 2024 dataset.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The dataset
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7 raw files, organized as fact tables (events) and dimension tables (reference data) — 80 stations, 3 lines, a full calendar year.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0" y="1737360"/>
            <a:ext cx="2537460" cy="1737360"/>
          </a:xfrm>
          <a:prstGeom prst="roundRect">
            <a:avLst>
              <a:gd name="adj" fmla="val 5263"/>
            </a:avLst>
          </a:prstGeom>
          <a:solidFill>
            <a:srgbClr val="EEF1F5"/>
          </a:solidFill>
          <a:ln/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0" y="1920240"/>
            <a:ext cx="2537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22.3M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355080" y="278892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Passengers, 2024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983980" y="1737360"/>
            <a:ext cx="2537460" cy="1737360"/>
          </a:xfrm>
          <a:prstGeom prst="roundRect">
            <a:avLst>
              <a:gd name="adj" fmla="val 5263"/>
            </a:avLst>
          </a:prstGeom>
          <a:solidFill>
            <a:srgbClr val="EEF1F5"/>
          </a:solidFill>
          <a:ln/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83980" y="1920240"/>
            <a:ext cx="2537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5E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121140" y="278892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Stations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3703320"/>
            <a:ext cx="2537460" cy="1737360"/>
          </a:xfrm>
          <a:prstGeom prst="roundRect">
            <a:avLst>
              <a:gd name="adj" fmla="val 5263"/>
            </a:avLst>
          </a:prstGeom>
          <a:solidFill>
            <a:srgbClr val="EEF1F5"/>
          </a:solidFill>
          <a:ln/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3886200"/>
            <a:ext cx="2537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8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55080" y="475488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Lines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83980" y="3703320"/>
            <a:ext cx="2537460" cy="1737360"/>
          </a:xfrm>
          <a:prstGeom prst="roundRect">
            <a:avLst>
              <a:gd name="adj" fmla="val 5263"/>
            </a:avLst>
          </a:prstGeom>
          <a:solidFill>
            <a:srgbClr val="EEF1F5"/>
          </a:solidFill>
          <a:ln/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983980" y="3886200"/>
            <a:ext cx="2537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862K+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21140" y="475488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Trips Analyzed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Data Flows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— each one builds on the last.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77340" y="169164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773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files — fact tables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(trips, passengers, delays)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dimension tables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(stations, time, weather, price)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82112" y="3337560"/>
            <a:ext cx="329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538728" y="201168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00843D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75988" y="1691640"/>
            <a:ext cx="640080" cy="640080"/>
          </a:xfrm>
          <a:prstGeom prst="ellipse">
            <a:avLst/>
          </a:prstGeom>
          <a:solidFill>
            <a:srgbClr val="0084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7598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75888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8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Pipeline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21608" y="310896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rgbClr val="1A1A1A"/>
                </a:solidFill>
              </a:rPr>
              <a:t>Built 7 charts — peak hours, top stations,
  revenue trends, weather correlation
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0760" y="3337560"/>
            <a:ext cx="329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37376" y="201168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005EB8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74636" y="1691640"/>
            <a:ext cx="640080" cy="640080"/>
          </a:xfrm>
          <a:prstGeom prst="ellipse">
            <a:avLst/>
          </a:prstGeom>
          <a:solidFill>
            <a:srgbClr val="005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74636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74536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5E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Validation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0256" y="310896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 and pivot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confirm the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correct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79408" y="3337560"/>
            <a:ext cx="329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336024" y="201168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273284" y="169164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273284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473184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18904" y="310896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interactive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dashboard,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filtering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roles, one dataset — each person owned a clear piece of the pipeline.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85216" y="2103120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156716" y="2423160"/>
            <a:ext cx="914400" cy="914400"/>
          </a:xfrm>
          <a:prstGeom prst="ellipse">
            <a:avLst/>
          </a:prstGeom>
          <a:solidFill>
            <a:srgbClr val="0084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56716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76656" y="3520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Youssef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22376" y="40233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25496" y="2103120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96996" y="2423160"/>
            <a:ext cx="914400" cy="914400"/>
          </a:xfrm>
          <a:prstGeom prst="ellipse">
            <a:avLst/>
          </a:prstGeom>
          <a:solidFill>
            <a:srgbClr val="0084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96996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916936" y="3520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62656" y="40233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Analysis &amp; Charts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65776" y="2103120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637276" y="2423160"/>
            <a:ext cx="914400" cy="914400"/>
          </a:xfrm>
          <a:prstGeom prst="ellipse">
            <a:avLst/>
          </a:prstGeom>
          <a:solidFill>
            <a:srgbClr val="005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37276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157216" y="3520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Zainab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202936" y="40233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Pivot Tables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06056" y="2103120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877556" y="2423160"/>
            <a:ext cx="914400" cy="914400"/>
          </a:xfrm>
          <a:prstGeom prst="ellipse">
            <a:avLst/>
          </a:prstGeom>
          <a:solidFill>
            <a:srgbClr val="005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77556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397496" y="3520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Basmala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43216" y="40233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KPI Workbook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46336" y="2103120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117836" y="2423160"/>
            <a:ext cx="914400" cy="91440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117836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637776" y="3520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Ibrahim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683496" y="40233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Dashboard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&amp; SQL — Cleaning &amp;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905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0084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8288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8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Youssef — The Pipeline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4617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br>
              <a:rPr lang="en-US" sz="1250" dirty="0">
                <a:solidFill>
                  <a:srgbClr val="1A1A1A"/>
                </a:solidFill>
              </a:rPr>
            </a:br>
            <a:br>
              <a:rPr lang="en-US" sz="1250" dirty="0">
                <a:solidFill>
                  <a:srgbClr val="1A1A1A"/>
                </a:solidFill>
              </a:rPr>
            </a:br>
            <a:r>
              <a:rPr lang="en-US" sz="1250" dirty="0">
                <a:solidFill>
                  <a:srgbClr val="1A1A1A"/>
                </a:solidFill>
              </a:rPr>
              <a:t>• Used SQL to answer all 10 business questions
</a:t>
            </a:r>
            <a:r>
              <a:rPr lang="en-US" sz="1200" dirty="0">
                <a:solidFill>
                  <a:srgbClr val="1A1A1A"/>
                </a:solidFill>
              </a:rPr>
              <a:t> • Aggregated raw data using ai </a:t>
            </a:r>
            <a:br>
              <a:rPr lang="en-US" sz="1200" dirty="0"/>
            </a:br>
            <a:r>
              <a:rPr lang="en-US" sz="1250" b="1" dirty="0">
                <a:solidFill>
                  <a:srgbClr val="0B1F3A"/>
                </a:solidFill>
              </a:rPr>
              <a:t>Result: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joined, and</a:t>
            </a:r>
            <a:r>
              <a:rPr lang="en-US" sz="1200" b="1" dirty="0"/>
              <a:t>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into 12</a:t>
            </a:r>
            <a:r>
              <a:rPr lang="en-US" sz="1200" b="1" dirty="0"/>
              <a:t>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ready-to-use files </a:t>
            </a:r>
            <a:b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10 business questions using SQL</a:t>
            </a:r>
            <a:endParaRPr lang="en-US" sz="1200" b="1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905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0" y="1828800"/>
            <a:ext cx="502920" cy="502920"/>
          </a:xfrm>
          <a:prstGeom prst="ellipse">
            <a:avLst/>
          </a:prstGeom>
          <a:solidFill>
            <a:srgbClr val="0084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18288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8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Anas — The Analysis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2468880"/>
            <a:ext cx="4617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</a:rPr>
              <a:t>Final project.py
</a:t>
            </a:r>
            <a:endParaRPr lang="en-US" sz="120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• Checked all 12 files for nulls &amp; duplicates
</a:t>
            </a:r>
            <a:endParaRPr lang="en-US" sz="120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• Confirmed: zero errors found
</a:t>
            </a:r>
            <a:endParaRPr lang="en-US" sz="120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• Built 7 charts — peak hours, top stations,
  revenue trends, weather correlation
</a:t>
            </a:r>
            <a:endParaRPr lang="en-US" sz="1200" dirty="0"/>
          </a:p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Result: the analytical reference every</a:t>
            </a:r>
            <a:endParaRPr lang="en-US" sz="1200" dirty="0"/>
          </a:p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other number was checked against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— KPIs &amp; Validation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905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005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8288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E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Zainab — Pivot Tables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4617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</a:rPr>
              <a:t>Bookmetro.xlsx
</a:t>
            </a:r>
            <a:endParaRPr lang="en-US" sz="120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• Station × Line breakdown
</a:t>
            </a:r>
            <a:endParaRPr lang="en-US" sz="120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• Period-of-day breakdown
</a:t>
            </a:r>
            <a:endParaRPr lang="en-US" sz="1200" dirty="0"/>
          </a:p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Result: a simple, no-code way to check</a:t>
            </a:r>
            <a:endParaRPr lang="en-US" sz="1200" dirty="0"/>
          </a:p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the core numbers by hand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905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0" y="1828800"/>
            <a:ext cx="502920" cy="502920"/>
          </a:xfrm>
          <a:prstGeom prst="ellipse">
            <a:avLst/>
          </a:prstGeom>
          <a:solidFill>
            <a:srgbClr val="005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18288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E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Basmala — KPI Workbook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2468880"/>
            <a:ext cx="4617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</a:rPr>
              <a:t>BookMetro_KPI_Summary.xlsx
</a:t>
            </a:r>
            <a:endParaRPr lang="en-US" sz="120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• 11 sheets, 7 embedded charts
</a:t>
            </a:r>
            <a:endParaRPr lang="en-US" sz="120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• KPI Summary with MoM growth
</a:t>
            </a:r>
            <a:endParaRPr lang="en-US" sz="120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• Seasonal, Ramadan, Time of Day,
  Station Performance, Weather sheets
</a:t>
            </a:r>
            <a:endParaRPr lang="en-US" sz="1200" dirty="0"/>
          </a:p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Result: 22,378,852 total passengers —</a:t>
            </a:r>
            <a:endParaRPr lang="en-US" sz="1200" dirty="0"/>
          </a:p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the trusted number the whole project</a:t>
            </a:r>
            <a:endParaRPr lang="en-US" sz="1200" dirty="0"/>
          </a:p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was checked against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The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 ·  5 interactive pages, built on 12 clean files and 13 relationships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29768" y="1965960"/>
            <a:ext cx="2148840" cy="28346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6510">
            <a:solidFill>
              <a:srgbClr val="0B1F3A"/>
            </a:solidFill>
            <a:prstDash val="solid"/>
          </a:ln>
          <a:effectLst>
            <a:outerShdw blurRad="50800" dist="25400" dir="54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48156" y="219456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48156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" y="2880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9496" y="3429000"/>
            <a:ext cx="1929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KPI cards + MoM trend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24912" y="1965960"/>
            <a:ext cx="2148840" cy="28346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6510">
            <a:solidFill>
              <a:srgbClr val="C8102E"/>
            </a:solidFill>
            <a:prstDash val="solid"/>
          </a:ln>
          <a:effectLst>
            <a:outerShdw blurRad="50800" dist="25400" dir="54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43300" y="2194560"/>
            <a:ext cx="512064" cy="512064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43300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16352" y="2880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 Map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34640" y="3429000"/>
            <a:ext cx="1929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map, 80 stations, real GPS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0056" y="1965960"/>
            <a:ext cx="2148840" cy="28346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6510">
            <a:solidFill>
              <a:srgbClr val="005EB8"/>
            </a:solidFill>
            <a:prstDash val="solid"/>
          </a:ln>
          <a:effectLst>
            <a:outerShdw blurRad="50800" dist="25400" dir="54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838444" y="2194560"/>
            <a:ext cx="512064" cy="512064"/>
          </a:xfrm>
          <a:prstGeom prst="ellipse">
            <a:avLst/>
          </a:prstGeom>
          <a:solidFill>
            <a:srgbClr val="005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38444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11496" y="2880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5E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Intelligence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29784" y="3429000"/>
            <a:ext cx="1929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+ peak hours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0" y="1965960"/>
            <a:ext cx="2148840" cy="28346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6510">
            <a:solidFill>
              <a:srgbClr val="00843D"/>
            </a:solidFill>
            <a:prstDash val="solid"/>
          </a:ln>
          <a:effectLst>
            <a:outerShdw blurRad="50800" dist="25400" dir="54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33588" y="2194560"/>
            <a:ext cx="512064" cy="512064"/>
          </a:xfrm>
          <a:prstGeom prst="ellipse">
            <a:avLst/>
          </a:prstGeom>
          <a:solidFill>
            <a:srgbClr val="0084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33588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06640" y="2880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8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Analysis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24928" y="3429000"/>
            <a:ext cx="1929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revenue by line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10344" y="1965960"/>
            <a:ext cx="2148840" cy="28346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6510">
            <a:solidFill>
              <a:srgbClr val="F2A900"/>
            </a:solidFill>
            <a:prstDash val="solid"/>
          </a:ln>
          <a:effectLst>
            <a:outerShdw blurRad="50800" dist="25400" dir="54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428732" y="2194560"/>
            <a:ext cx="512064" cy="51206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428732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01784" y="2880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Reliability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720072" y="3429000"/>
            <a:ext cx="1929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delays + causes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5166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102E"/>
                </a:solidFill>
              </a:rPr>
              <a:t>20 </a:t>
            </a:r>
            <a:r>
              <a:rPr lang="en-US" sz="1300" dirty="0">
                <a:solidFill>
                  <a:srgbClr val="1A1A1A"/>
                </a:solidFill>
              </a:rPr>
              <a:t>DAX measures      </a:t>
            </a:r>
            <a:r>
              <a:rPr lang="en-US" sz="1300" b="1" dirty="0">
                <a:solidFill>
                  <a:srgbClr val="005EB8"/>
                </a:solidFill>
              </a:rPr>
              <a:t>13 </a:t>
            </a:r>
            <a:r>
              <a:rPr lang="en-US" sz="1300" dirty="0">
                <a:solidFill>
                  <a:srgbClr val="1A1A1A"/>
                </a:solidFill>
              </a:rPr>
              <a:t>relationships      </a:t>
            </a:r>
            <a:r>
              <a:rPr lang="en-US" sz="1300" b="1" dirty="0">
                <a:solidFill>
                  <a:srgbClr val="00843D"/>
                </a:solidFill>
              </a:rPr>
              <a:t>12 </a:t>
            </a:r>
            <a:r>
              <a:rPr lang="en-US" sz="1300" dirty="0">
                <a:solidFill>
                  <a:srgbClr val="1A1A1A"/>
                </a:solidFill>
              </a:rPr>
              <a:t>clean data files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Numbers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figures behind the whole analysis.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48056" y="219456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42A4D"/>
          </a:solidFill>
          <a:ln w="1905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9496" y="24688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22,378,852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30936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Passengers — 2024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28416" y="219456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42A4D"/>
          </a:solidFill>
          <a:ln w="1905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19856" y="24688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5E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11296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across 3 Lines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8776" y="219456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42A4D"/>
          </a:solidFill>
          <a:ln w="1905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0216" y="24688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8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862,573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91656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Trips Analyzed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89136" y="219456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42A4D"/>
          </a:solidFill>
          <a:ln w="1905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80576" y="24688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72016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Delays, across 68 of 80 Stations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 We Can Answer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below is answered live, directly on the dashboard.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9476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stations are busiest, and how does that shift month to month?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778240" y="194767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Map page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3108960"/>
            <a:ext cx="502920" cy="502920"/>
          </a:xfrm>
          <a:prstGeom prst="ellipse">
            <a:avLst/>
          </a:prstGeom>
          <a:solidFill>
            <a:srgbClr val="005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299923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metro line generates the most revenue?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778240" y="29992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 page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4160520"/>
            <a:ext cx="502920" cy="502920"/>
          </a:xfrm>
          <a:prstGeom prst="ellipse">
            <a:avLst/>
          </a:prstGeom>
          <a:solidFill>
            <a:srgbClr val="0084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405079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are the peak ridership hours of the day?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778240" y="405079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 page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4400" y="521208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1640" y="510235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stations have the most delays, and why?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778240" y="510235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Reliability page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80160" y="502920"/>
            <a:ext cx="329184" cy="329184"/>
          </a:xfrm>
          <a:prstGeom prst="ellipse">
            <a:avLst/>
          </a:prstGeom>
          <a:solidFill>
            <a:srgbClr val="005E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80160" y="502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960120"/>
            <a:ext cx="256032" cy="256032"/>
          </a:xfrm>
          <a:prstGeom prst="ellipse">
            <a:avLst/>
          </a:prstGeom>
          <a:solidFill>
            <a:srgbClr val="0084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37360" y="960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 →  Python  →  Excel  →  Power BI  →  Insight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Metro Data Analysis — DEPI Final Project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 ·  Anas  ·  Youssef  ·  Zainab  ·  Basmala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696</Words>
  <Application>Microsoft Office PowerPoint</Application>
  <PresentationFormat>Widescreen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nada</cp:lastModifiedBy>
  <cp:revision>3</cp:revision>
  <dcterms:created xsi:type="dcterms:W3CDTF">2026-08-19T19:47:17Z</dcterms:created>
  <dcterms:modified xsi:type="dcterms:W3CDTF">2026-08-24T15:07:02Z</dcterms:modified>
</cp:coreProperties>
</file>